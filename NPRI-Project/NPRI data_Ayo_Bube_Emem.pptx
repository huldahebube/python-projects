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6" r:id="rId6"/>
    <p:sldId id="262" r:id="rId7"/>
    <p:sldId id="267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B46D9-5375-304E-6832-9048E9E3F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01EA9-F4CF-F434-B816-6F08DB68D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74B3B-16DE-7881-B00E-5FB41528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4999C-B0A5-FEFD-5F05-0A4A554F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1C87-CED6-FB7D-34F1-E94E070B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1916-A46C-3428-5361-4FBE8A546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16F7F-FA8A-1491-F078-EB6465E9F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87D62-F822-D26C-16D2-53ABF8CC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903BE-9371-BA5A-6D87-9F5035CB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219C8-A73E-3F84-87D0-A0200592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3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AF05-B340-6B9E-CEE0-D731D58D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5A786-B2CD-3661-0094-A154E188E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BF08E-BF40-FA48-6F69-1C85FCD21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97EA5-FBF4-F477-6F2B-61D59F1F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1B3EE-580F-0416-02AF-A46B17D74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0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B64F-6AB8-34F6-7507-02B3C8A1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A3ACB-2F0C-5702-CE8F-E6C4C0034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0C9C4-B15D-903D-BB98-3E9D9CED1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05E9A-7343-F64F-2DC0-88F404F8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22219-C0C9-A5E8-48AB-C38467EA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9523-1BE0-D633-DB52-5A2F550E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3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6B28-3D0B-A658-CE77-E68908857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AADB5-1481-18AD-3F59-0F18CF32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46CB2-81DC-4FC9-583F-87839E816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00E4B-3A41-F1D1-7ABA-0F5408B31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4EBF6B-BCD2-24F2-7C90-DBC45EB6D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783B5-34FA-A496-7209-FDF1BDC8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D0799-F564-DD1F-50D1-0CA5B2BF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21BDF4-FF28-D203-3038-4827167B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6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8E3B-8E4D-5A3F-0552-ADD4E430F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20F949-B73F-750D-F938-2F6F7B43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A9FB4-380C-58D4-5960-DF1BCBBD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D61A0-F364-B4BA-B190-7EBE5392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4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90F11-A1CC-F12E-CE88-EF001851E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6F523-A483-82C2-CE61-600A339D1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D18C3-459D-72B4-E280-0F63C985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99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197B2-AA7D-D5AE-1F1D-223A8A1A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2A35-FB9C-3FE3-4ED7-04C1AF7A5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7E228-57A9-548A-B27F-4066623AF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FF8D9-611E-C96F-9974-09DCBBF8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338F2-29C1-739D-B23D-B6C03101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1BB9A-D196-0440-794F-6B6AFF9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9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09C53-D420-1CDD-2B0C-FE421A764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CDF8F-1ECA-5BA7-B900-5D0A78EEA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DB07C-AC61-3FB9-2FFB-DBDAE4991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BD880-54AF-6CE0-80FB-76E85878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E8075-3FC2-8FC4-3BDF-4C3A8FDC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3E369-057B-5AD3-A5FC-B3B02404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8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C050-C4D7-CD34-2008-F906786C7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A82FC-1CD0-2A5E-DE81-9A9D4820C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E86CD-3BD6-7E75-2804-AF5FEC29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375A5-7898-391B-9ABB-FBAF9F1F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95B82-058F-C86B-F80D-22FBB64F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7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9EC70-2BD5-C44D-44EB-64DA8E120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5A85D-BDC6-7122-5040-9F3366813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8191D-3994-51E4-0659-CAEA8DDCC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A7E30-496B-0A30-3FFF-973939FF0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81919-21E8-44FB-A300-8A34B7CB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4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2F430-2C96-1D79-1715-319A272B9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8F761-122C-D952-C019-A1D039FB8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5DC07-C707-4C47-FF35-7E9330F99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DB1F9-AA6D-4DF9-BDD5-5A56190CB64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4BD46-82B6-AD15-1F11-6AA6A2FE9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70EC1-48F1-2CF5-BBD1-D4ACA235E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F004F-A5FB-4D78-8DA4-FD8024DDF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1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ablegraphics.in/category/background-images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2D2B45B4-C1B2-67BD-EE7C-CE7D621A25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CF6FD-7248-3415-89A8-C62EFEC97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22329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Exploratory Data Analysis (EDA) on NPRI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A1A18-E7DD-6066-53AE-FBEDC7CF5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1490" y="3786909"/>
            <a:ext cx="10380749" cy="23210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FFFFFF"/>
                </a:solidFill>
                <a:highlight>
                  <a:srgbClr val="008080"/>
                </a:highlight>
              </a:rPr>
              <a:t>Team- Insight Analyst (Bube, Emem, Ayo &amp; Celine)</a:t>
            </a:r>
          </a:p>
          <a:p>
            <a:r>
              <a:rPr lang="en-US" sz="1600" dirty="0">
                <a:solidFill>
                  <a:srgbClr val="FFFFFF"/>
                </a:solidFill>
                <a:highlight>
                  <a:srgbClr val="008080"/>
                </a:highlight>
              </a:rPr>
              <a:t>Course- </a:t>
            </a:r>
            <a:r>
              <a:rPr lang="en-US" sz="1600" dirty="0" err="1">
                <a:solidFill>
                  <a:srgbClr val="FFFFFF"/>
                </a:solidFill>
                <a:highlight>
                  <a:srgbClr val="008080"/>
                </a:highlight>
              </a:rPr>
              <a:t>Cmpt</a:t>
            </a:r>
            <a:r>
              <a:rPr lang="en-US" sz="1600" dirty="0">
                <a:solidFill>
                  <a:srgbClr val="FFFFFF"/>
                </a:solidFill>
                <a:highlight>
                  <a:srgbClr val="008080"/>
                </a:highlight>
              </a:rPr>
              <a:t> 2400(project 2)</a:t>
            </a:r>
          </a:p>
          <a:p>
            <a:r>
              <a:rPr lang="en-US" sz="1600" dirty="0">
                <a:solidFill>
                  <a:srgbClr val="FFFFFF"/>
                </a:solidFill>
                <a:highlight>
                  <a:srgbClr val="008080"/>
                </a:highlight>
              </a:rPr>
              <a:t>Instructor- Nasimeh Asgarian</a:t>
            </a:r>
          </a:p>
          <a:p>
            <a:r>
              <a:rPr lang="en-US" sz="1600" dirty="0">
                <a:solidFill>
                  <a:srgbClr val="FFFFFF"/>
                </a:solidFill>
                <a:highlight>
                  <a:srgbClr val="008080"/>
                </a:highlight>
              </a:rPr>
              <a:t>Project Topic: Based on NPRI data, which industry is predicted to have the highest growth of releases in five years? Which will have the largest decline?</a:t>
            </a:r>
          </a:p>
        </p:txBody>
      </p:sp>
    </p:spTree>
    <p:extLst>
      <p:ext uri="{BB962C8B-B14F-4D97-AF65-F5344CB8AC3E}">
        <p14:creationId xmlns:p14="http://schemas.microsoft.com/office/powerpoint/2010/main" val="354657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DCD0-B65D-A4E5-A4CE-8B87BBD5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3962400" cy="1402470"/>
          </a:xfrm>
        </p:spPr>
        <p:txBody>
          <a:bodyPr anchor="t">
            <a:normAutofit/>
          </a:bodyPr>
          <a:lstStyle/>
          <a:p>
            <a:r>
              <a:rPr lang="en-US" sz="3200" dirty="0"/>
              <a:t> </a:t>
            </a:r>
            <a:r>
              <a:rPr lang="en-US" sz="3200" dirty="0">
                <a:solidFill>
                  <a:schemeClr val="bg2"/>
                </a:solidFill>
              </a:rPr>
              <a:t>EDA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621C-7C66-7A1D-80ED-ACBC46497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551176"/>
            <a:ext cx="3962400" cy="359120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Initial Data Preview:</a:t>
            </a:r>
          </a:p>
          <a:p>
            <a:r>
              <a:rPr lang="en-US" sz="2000" dirty="0">
                <a:solidFill>
                  <a:schemeClr val="bg2"/>
                </a:solidFill>
              </a:rPr>
              <a:t>Check the data structure.</a:t>
            </a:r>
          </a:p>
          <a:p>
            <a:r>
              <a:rPr lang="en-US" sz="2000" dirty="0">
                <a:solidFill>
                  <a:schemeClr val="bg2"/>
                </a:solidFill>
              </a:rPr>
              <a:t>Check the data types.</a:t>
            </a:r>
          </a:p>
          <a:p>
            <a:r>
              <a:rPr lang="en-US" sz="2000" dirty="0">
                <a:solidFill>
                  <a:schemeClr val="bg2"/>
                </a:solidFill>
              </a:rPr>
              <a:t>Check for missing values</a:t>
            </a:r>
          </a:p>
          <a:p>
            <a:r>
              <a:rPr lang="en-US" sz="2000" dirty="0">
                <a:solidFill>
                  <a:schemeClr val="bg2"/>
                </a:solidFill>
              </a:rPr>
              <a:t>Check for duplicates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B11B05-5E59-5B88-D8DB-0E975DEA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727" y="0"/>
            <a:ext cx="6927273" cy="6876532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18138-24E7-F004-6A1F-F24A08A71234}"/>
              </a:ext>
            </a:extLst>
          </p:cNvPr>
          <p:cNvSpPr txBox="1"/>
          <p:nvPr/>
        </p:nvSpPr>
        <p:spPr>
          <a:xfrm>
            <a:off x="5680363" y="2972873"/>
            <a:ext cx="6096000" cy="2982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NPRI dataset tracks pollutant releases across Canada from 2000 to 2020, focusing on the environmental impact of industries.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Key Columns: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NPRI_ID: Unique release event ID.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Company &amp; Facility: Identify the source.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NAICS Code: Industry classification.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Releases: Pollutants to air, water, and land.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Employees &amp; Province: Company size and location.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C3FBD-F5CA-4CE1-5589-E966ACF640EE}"/>
              </a:ext>
            </a:extLst>
          </p:cNvPr>
          <p:cNvSpPr txBox="1"/>
          <p:nvPr/>
        </p:nvSpPr>
        <p:spPr>
          <a:xfrm>
            <a:off x="6096000" y="94194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Understanding the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4538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643DD-4067-3EBD-9D67-7775F70D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Aligning and Merging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112F2-EA59-B9BC-4BCC-E49CC25B1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400"/>
              <a:t>Merging: We combine two datasets (df_releases and df_disposals) using common identifiers like company name, location, and substance, ensuring all related data is brought together.</a:t>
            </a:r>
          </a:p>
          <a:p>
            <a:r>
              <a:rPr lang="en-US" sz="1400"/>
              <a:t>Outer Join: We keep all data from both sources, even if some information is missing from one.</a:t>
            </a:r>
          </a:p>
          <a:p>
            <a:r>
              <a:rPr lang="en-US" sz="1400"/>
              <a:t>Combining Columns: We merge two "Number of Employees" columns into one, using values from both sources when needed.</a:t>
            </a:r>
          </a:p>
          <a:p>
            <a:r>
              <a:rPr lang="en-US" sz="1400"/>
              <a:t>Cleaning: After combining, we remove unnecessary columns to make the dataset cleaner and easier to work with.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4996C-3F86-C4F1-0E6C-4EBF108C2341}"/>
              </a:ext>
            </a:extLst>
          </p:cNvPr>
          <p:cNvSpPr txBox="1"/>
          <p:nvPr/>
        </p:nvSpPr>
        <p:spPr>
          <a:xfrm>
            <a:off x="7573890" y="1154119"/>
            <a:ext cx="4195323" cy="549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Creating New Features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Releases (Summed)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Years Since 2000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Prev_Year_Pollution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Growth Rate (%)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Emission Industry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Is_COVID_Year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Region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Estimation_Method_Type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Pollution Category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Prev_Year_Category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Prev_Year_Growth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CEDE5-2DE5-127B-9B6A-A73FE98F4611}"/>
              </a:ext>
            </a:extLst>
          </p:cNvPr>
          <p:cNvSpPr txBox="1"/>
          <p:nvPr/>
        </p:nvSpPr>
        <p:spPr>
          <a:xfrm>
            <a:off x="7460938" y="446233"/>
            <a:ext cx="43082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Feature Engineering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9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EE12D-98AB-BC1A-6245-4ED18ACE3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4" y="490537"/>
            <a:ext cx="3316202" cy="584775"/>
          </a:xfrm>
        </p:spPr>
        <p:txBody>
          <a:bodyPr anchor="b">
            <a:normAutofit/>
          </a:bodyPr>
          <a:lstStyle/>
          <a:p>
            <a:r>
              <a:rPr lang="en-US" sz="3200" dirty="0">
                <a:highlight>
                  <a:srgbClr val="C0C0C0"/>
                </a:highlight>
              </a:rPr>
              <a:t>Feature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F112E-3B56-3B7C-D579-6C14816D3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8619" y="1887794"/>
            <a:ext cx="5466736" cy="4833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85000"/>
                  </a:schemeClr>
                </a:solidFill>
              </a:rPr>
              <a:t>Feature Encoding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We applied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</a:rPr>
              <a:t>Label Encoding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to certain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 columns, which converts categorical data (like "Region" or "Province") into numeric labels.</a:t>
            </a:r>
          </a:p>
          <a:p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This helps machine learning models understand categorical data by assigning each category a unique number.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85000"/>
                  </a:schemeClr>
                </a:solidFill>
              </a:rPr>
              <a:t>Encoding the Pollution Category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: We also convert the "Pollution Category" into numerical values, where: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Low = 1, Medium = 2  and High = 3</a:t>
            </a:r>
          </a:p>
          <a:p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This makes it easier to predict pollution levels using machine learning models.</a:t>
            </a:r>
            <a:endParaRPr lang="en-US" sz="1100" dirty="0"/>
          </a:p>
          <a:p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3DEDA-07C9-8DEE-E5F4-33DE9AC40A14}"/>
              </a:ext>
            </a:extLst>
          </p:cNvPr>
          <p:cNvSpPr txBox="1"/>
          <p:nvPr/>
        </p:nvSpPr>
        <p:spPr>
          <a:xfrm>
            <a:off x="0" y="1743998"/>
            <a:ext cx="6096000" cy="4444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Why Standardization (Using StandardScaler) Was Appropriate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Features Have Different Units and Ranges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dataset includes features like: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Releases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(Summed) in tonnes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Prev_Year_Pollution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large numeric scales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Years Since 2000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small values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Standardization brings all these features to a common scale, making them comparable without losing their patterns.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7EDCC-FC6F-DDA1-5C30-CC6FD72E4496}"/>
              </a:ext>
            </a:extLst>
          </p:cNvPr>
          <p:cNvSpPr txBox="1"/>
          <p:nvPr/>
        </p:nvSpPr>
        <p:spPr>
          <a:xfrm>
            <a:off x="117987" y="490537"/>
            <a:ext cx="47981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 Display" panose="02110004020202020204"/>
                <a:ea typeface="+mj-ea"/>
                <a:cs typeface="+mj-cs"/>
              </a:rPr>
              <a:t>Standardization/Scaling 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93994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E02D-B285-89F8-F9EC-9236C73A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052" y="374958"/>
            <a:ext cx="10815484" cy="578771"/>
          </a:xfrm>
        </p:spPr>
        <p:txBody>
          <a:bodyPr>
            <a:noAutofit/>
          </a:bodyPr>
          <a:lstStyle/>
          <a:p>
            <a:pPr algn="ctr"/>
            <a:r>
              <a:rPr lang="en-CA" sz="5400"/>
              <a:t>       </a:t>
            </a:r>
            <a:r>
              <a:rPr lang="en-CA" sz="3200"/>
              <a:t>Model Selection Strategy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E7C9-4999-26DF-79E1-C8F9578FA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374"/>
            <a:ext cx="4372897" cy="532562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/>
              <a:t>Phase 1: </a:t>
            </a:r>
          </a:p>
          <a:p>
            <a:pPr>
              <a:buNone/>
            </a:pPr>
            <a:r>
              <a:rPr lang="en-US" b="1" dirty="0"/>
              <a:t>Classification</a:t>
            </a:r>
            <a:r>
              <a:rPr lang="en-US" dirty="0"/>
              <a:t> – Categorizing Pollution Levels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Objective:</a:t>
            </a:r>
          </a:p>
          <a:p>
            <a:pPr>
              <a:buNone/>
            </a:pPr>
            <a:r>
              <a:rPr lang="en-US" dirty="0"/>
              <a:t>Classify each record into one of the following pollution categories: Low, Medium, or High.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Model: </a:t>
            </a:r>
          </a:p>
          <a:p>
            <a:pPr>
              <a:buNone/>
            </a:pPr>
            <a:r>
              <a:rPr lang="en-US" dirty="0"/>
              <a:t>Random Forest Classifier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Why This Model?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both </a:t>
            </a:r>
            <a:r>
              <a:rPr lang="en-US" b="1" dirty="0"/>
              <a:t>numerical and categorical features</a:t>
            </a:r>
            <a:r>
              <a:rPr lang="en-US" dirty="0"/>
              <a:t>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Robust to </a:t>
            </a:r>
            <a:r>
              <a:rPr lang="en-US" b="1" dirty="0"/>
              <a:t>outliers</a:t>
            </a:r>
            <a:r>
              <a:rPr lang="en-US" dirty="0"/>
              <a:t> and </a:t>
            </a:r>
            <a:r>
              <a:rPr lang="en-US" b="1" dirty="0"/>
              <a:t>missing values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Performs well on </a:t>
            </a:r>
            <a:r>
              <a:rPr lang="en-US" b="1" dirty="0"/>
              <a:t>imbalanced</a:t>
            </a:r>
            <a:r>
              <a:rPr lang="en-US" dirty="0"/>
              <a:t> and </a:t>
            </a:r>
            <a:r>
              <a:rPr lang="en-US" b="1" dirty="0"/>
              <a:t>complex</a:t>
            </a:r>
            <a:r>
              <a:rPr lang="en-US" dirty="0"/>
              <a:t>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feature importance</a:t>
            </a:r>
            <a:r>
              <a:rPr lang="en-US" dirty="0"/>
              <a:t>, aiding explainability for stakeholders.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88042-69E6-97BF-940F-FB37035C765D}"/>
              </a:ext>
            </a:extLst>
          </p:cNvPr>
          <p:cNvSpPr txBox="1"/>
          <p:nvPr/>
        </p:nvSpPr>
        <p:spPr>
          <a:xfrm>
            <a:off x="6587612" y="1501420"/>
            <a:ext cx="5152103" cy="563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1"/>
              <a:t>Phase 2: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1"/>
              <a:t>Regression – </a:t>
            </a:r>
            <a:r>
              <a:rPr lang="en-US" sz="1500"/>
              <a:t>Forecasting Pollution Trends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500" b="1"/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1"/>
              <a:t>Objective: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/>
              <a:t>Predict future pollutant release trends over time for each industry using historical NPRI data.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500" b="1"/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1500" b="1"/>
              <a:t>Model: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1500"/>
              <a:t>Linear Regression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CA" sz="1500" b="1"/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1"/>
              <a:t>Why This Model?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/>
              <a:t>Simple and interpretable — shows apparent annual growth or decline per industry.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/>
              <a:t>Ideal for smaller datasets (e.g., 22 years per industry).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/>
              <a:t>Efficient and scalable across multiple industry time series.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/>
              <a:t>Easy to explain to non-technical stakeholders and policy decision-makers.</a:t>
            </a:r>
          </a:p>
          <a:p>
            <a:pPr marL="228600" marR="0" lvl="0" indent="-22860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/>
              <a:t>Enables trend comparison across industries using slope (growth rate).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Picture 12" descr="A blue light on a black background&#10;&#10;AI-generated content may be incorrect.">
            <a:extLst>
              <a:ext uri="{FF2B5EF4-FFF2-40B4-BE49-F238E27FC236}">
                <a16:creationId xmlns:a16="http://schemas.microsoft.com/office/drawing/2014/main" id="{47B9E8E4-7661-C490-BEB9-6E45EAA160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0569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7" name="Rectangle 4116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84459-B91A-53EE-C37A-61A1C833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 Visualizing Key Findings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0553AE-A226-E6D6-69B0-7162FC2B2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3013511"/>
            <a:ext cx="5828261" cy="3234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7F899D-3C9B-AFA0-D4D2-0AFBC27D6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3064508"/>
            <a:ext cx="5828261" cy="313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07B4C-37D4-8EB3-7E1A-584A0B563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Visualizing Key Findings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BD5D9D-3A39-73C6-E0DE-61E51A808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34" y="3020796"/>
            <a:ext cx="5828261" cy="32201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2856ED-6E40-E608-7335-3D9BBF321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474843"/>
            <a:ext cx="5828261" cy="359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40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56B9-1C21-32E3-467F-5DA483508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365126"/>
            <a:ext cx="10596716" cy="1060552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Conclusion: Pollution Trends Forecasting Using Time Series Regression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ED49E6-9C1E-202E-5EE9-C159FF92DFCA}"/>
              </a:ext>
            </a:extLst>
          </p:cNvPr>
          <p:cNvSpPr txBox="1"/>
          <p:nvPr/>
        </p:nvSpPr>
        <p:spPr>
          <a:xfrm>
            <a:off x="1168400" y="1526182"/>
            <a:ext cx="1074928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/>
              <a:t>Project Summary</a:t>
            </a:r>
            <a:r>
              <a:rPr lang="en-US" dirty="0"/>
              <a:t>:</a:t>
            </a:r>
          </a:p>
          <a:p>
            <a:r>
              <a:rPr lang="en-US" dirty="0"/>
              <a:t>We analyzed and modeled historical pollutant release data from NPRI to forecast future emissions by industry.</a:t>
            </a:r>
          </a:p>
          <a:p>
            <a:r>
              <a:rPr lang="en-US" dirty="0"/>
              <a:t>The approach was divided into two phases: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 1: Classification of pollution levels (Low, Medium, High).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 2: Time series regression to predict long-term emission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i="1" u="sng" dirty="0"/>
              <a:t>Key Findings: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Bituminous coal mining is projected to show the highest growth in emissions over the next 5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Non-ferrous metal smelting (except aluminum) is forecasted to have the steepest decline, reflecting progress in emissions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industries show stable trends, but a few outliers are driving significant environmental impact.</a:t>
            </a:r>
          </a:p>
          <a:p>
            <a:r>
              <a:rPr lang="en-US" dirty="0"/>
              <a:t> </a:t>
            </a:r>
          </a:p>
          <a:p>
            <a:r>
              <a:rPr lang="en-US" b="1" i="1" u="sng" dirty="0"/>
              <a:t>Implications: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Forecasting tools like this can support evidence-based policy decisions and help prioritize high-risk industries.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Targeted interventions in growing sectors may prevent future environmental degradation.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Industries with successful declines can serve as benchmarks for best practices.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77374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D4F3B-CAFE-A9D5-5FF4-64A24693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CC7AC5B9-546A-9DC3-BE97-FFEB88B89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7457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804</Words>
  <Application>Microsoft Office PowerPoint</Application>
  <PresentationFormat>Widescreen</PresentationFormat>
  <Paragraphs>103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Exploratory Data Analysis (EDA) on NPRI DATASET</vt:lpstr>
      <vt:lpstr> EDA</vt:lpstr>
      <vt:lpstr>Aligning and Merging the Dataset</vt:lpstr>
      <vt:lpstr>Feature Encoding</vt:lpstr>
      <vt:lpstr>       Model Selection Strategy</vt:lpstr>
      <vt:lpstr> Visualizing Key Findings</vt:lpstr>
      <vt:lpstr>Visualizing Key Findings</vt:lpstr>
      <vt:lpstr>Conclusion: Pollution Trends Forecasting Using Time Series Regression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Ebube Arinze</dc:creator>
  <cp:lastModifiedBy>Emem Antia</cp:lastModifiedBy>
  <cp:revision>4</cp:revision>
  <dcterms:created xsi:type="dcterms:W3CDTF">2025-03-05T20:33:03Z</dcterms:created>
  <dcterms:modified xsi:type="dcterms:W3CDTF">2025-04-02T20:59:33Z</dcterms:modified>
</cp:coreProperties>
</file>